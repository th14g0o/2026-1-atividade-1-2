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Inter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xmlns="" Id="rId15" Type="http://schemas.openxmlformats.org/officeDocument/2006/relationships/font" Target="fonts/rId1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9575" y="1652588"/>
            <a:ext cx="1781175" cy="36671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09575" y="1652588"/>
            <a:ext cx="8229600" cy="36576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409575" y="1652588"/>
            <a:ext cx="1890713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235" dirty="0">
                <a:solidFill>
                  <a:srgbClr val="8B949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Sistemas Operacionais</a:t>
            </a:r>
            <a:endParaRPr lang="en-US" sz="1235" dirty="0"/>
          </a:p>
        </p:txBody>
      </p:sp>
      <p:sp>
        <p:nvSpPr>
          <p:cNvPr id="6" name="Shape 4"/>
          <p:cNvSpPr/>
          <p:nvPr/>
        </p:nvSpPr>
        <p:spPr>
          <a:xfrm>
            <a:off x="409575" y="3343275"/>
            <a:ext cx="1188720" cy="347472"/>
          </a:xfrm>
          <a:prstGeom prst="rect">
            <a:avLst/>
          </a:prstGeom>
          <a:solidFill>
            <a:srgbClr val="1F6FEB"/>
          </a:solidFill>
          <a:ln w="4524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9613" y="3343275"/>
            <a:ext cx="59055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23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C++17</a:t>
            </a:r>
            <a:endParaRPr lang="en-US" sz="1235" dirty="0"/>
          </a:p>
        </p:txBody>
      </p:sp>
      <p:sp>
        <p:nvSpPr>
          <p:cNvPr id="8" name="Text 6"/>
          <p:cNvSpPr/>
          <p:nvPr/>
        </p:nvSpPr>
        <p:spPr>
          <a:xfrm>
            <a:off x="409575" y="2019300"/>
            <a:ext cx="7272338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39"/>
              </a:lnSpc>
              <a:buNone/>
            </a:pPr>
            <a:r>
              <a:rPr lang="en-US" sz="342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de comunicação Cliente/Servidor em C++</a:t>
            </a:r>
            <a:endParaRPr lang="en-US" sz="34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5775" y="205930"/>
            <a:ext cx="1371600" cy="256032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85775" y="205930"/>
            <a:ext cx="1371600" cy="256032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933450" y="204788"/>
            <a:ext cx="4714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57200" y="733425"/>
            <a:ext cx="8229600" cy="22860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7688" y="1081088"/>
            <a:ext cx="393192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4588" y="1201103"/>
            <a:ext cx="833438" cy="238125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894588" y="1201103"/>
            <a:ext cx="3291840" cy="237744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72274" y="1202246"/>
            <a:ext cx="14906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Samuel Chad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547688" y="1900238"/>
            <a:ext cx="393192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1513" y="2019490"/>
            <a:ext cx="1490663" cy="238125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671513" y="2019490"/>
            <a:ext cx="3291840" cy="237744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671513" y="201949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Sarah Beatriz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547688" y="2715958"/>
            <a:ext cx="393192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1513" y="2834069"/>
            <a:ext cx="1490663" cy="238125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71513" y="2834069"/>
            <a:ext cx="3291840" cy="237744"/>
          </a:xfrm>
          <a:prstGeom prst="rect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671513" y="2834069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Thiago Gonsalves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866775" y="200025"/>
            <a:ext cx="5476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SUMÁRIO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57200" y="609600"/>
            <a:ext cx="8229600" cy="50292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57200" y="609600"/>
            <a:ext cx="8229600" cy="50292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57200" y="609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89"/>
              </a:lnSpc>
              <a:buNone/>
            </a:pPr>
            <a:r>
              <a:rPr lang="en-US" sz="247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vamos ver</a:t>
            </a:r>
            <a:endParaRPr lang="en-US" sz="2470" dirty="0"/>
          </a:p>
        </p:txBody>
      </p:sp>
      <p:sp>
        <p:nvSpPr>
          <p:cNvPr id="9" name="Shape 7"/>
          <p:cNvSpPr/>
          <p:nvPr/>
        </p:nvSpPr>
        <p:spPr>
          <a:xfrm>
            <a:off x="457200" y="1139952"/>
            <a:ext cx="8229600" cy="22860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68552"/>
            <a:ext cx="45720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68552"/>
            <a:ext cx="457200" cy="475488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457200" y="1368552"/>
            <a:ext cx="457200" cy="475488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642938" y="1499997"/>
            <a:ext cx="85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283" b="1" dirty="0">
                <a:solidFill>
                  <a:srgbClr val="14AE5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83" dirty="0"/>
          </a:p>
        </p:txBody>
      </p:sp>
      <p:sp>
        <p:nvSpPr>
          <p:cNvPr id="14" name="Shape 12"/>
          <p:cNvSpPr/>
          <p:nvPr/>
        </p:nvSpPr>
        <p:spPr>
          <a:xfrm>
            <a:off x="1051559" y="1386840"/>
            <a:ext cx="3840480" cy="237744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1051559" y="1386840"/>
            <a:ext cx="3840480" cy="237744"/>
          </a:xfrm>
          <a:prstGeom prst="rect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1051559" y="13868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23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Linguagem e ambiente</a:t>
            </a:r>
            <a:endParaRPr lang="en-US" sz="1235" dirty="0"/>
          </a:p>
        </p:txBody>
      </p:sp>
      <p:sp>
        <p:nvSpPr>
          <p:cNvPr id="17" name="Shape 15"/>
          <p:cNvSpPr/>
          <p:nvPr/>
        </p:nvSpPr>
        <p:spPr>
          <a:xfrm>
            <a:off x="1051559" y="1615440"/>
            <a:ext cx="7589520" cy="201168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1051559" y="1615440"/>
            <a:ext cx="7589520" cy="201168"/>
          </a:xfrm>
          <a:prstGeom prst="rect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1051559" y="161544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8B949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C++17 · POSIX Sockets · Dev Container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063496"/>
            <a:ext cx="45720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063496"/>
            <a:ext cx="457200" cy="475488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457200" y="2063496"/>
            <a:ext cx="457200" cy="475488"/>
          </a:xfrm>
          <a:prstGeom prst="rect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633413" y="2195322"/>
            <a:ext cx="1095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283" b="1" dirty="0">
                <a:solidFill>
                  <a:srgbClr val="14AE5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83" dirty="0"/>
          </a:p>
        </p:txBody>
      </p:sp>
      <p:sp>
        <p:nvSpPr>
          <p:cNvPr id="24" name="Shape 22"/>
          <p:cNvSpPr/>
          <p:nvPr/>
        </p:nvSpPr>
        <p:spPr>
          <a:xfrm>
            <a:off x="1051559" y="2081784"/>
            <a:ext cx="3840480" cy="237744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1051559" y="2081784"/>
            <a:ext cx="3840480" cy="237744"/>
          </a:xfrm>
          <a:prstGeom prst="rect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1051559" y="20817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23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Bibliotecas usadas</a:t>
            </a:r>
            <a:endParaRPr lang="en-US" sz="1235" dirty="0"/>
          </a:p>
        </p:txBody>
      </p:sp>
      <p:sp>
        <p:nvSpPr>
          <p:cNvPr id="27" name="Shape 25"/>
          <p:cNvSpPr/>
          <p:nvPr/>
        </p:nvSpPr>
        <p:spPr>
          <a:xfrm>
            <a:off x="1051559" y="2310384"/>
            <a:ext cx="7589520" cy="201168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1051559" y="2310384"/>
            <a:ext cx="7589520" cy="201168"/>
          </a:xfrm>
          <a:prstGeom prst="rect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1051559" y="2310384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8B949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sys/socket · arpa/inet · thread + mutex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2758440"/>
            <a:ext cx="45720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59" y="2776728"/>
            <a:ext cx="3840480" cy="237744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1051559" y="2776728"/>
            <a:ext cx="3840480" cy="237744"/>
          </a:xfrm>
          <a:prstGeom prst="rect">
            <a:avLst/>
          </a:prstGeom>
          <a:noFill/>
          <a:ln/>
        </p:spPr>
      </p:sp>
      <p:sp>
        <p:nvSpPr>
          <p:cNvPr id="33" name="Text 31"/>
          <p:cNvSpPr/>
          <p:nvPr/>
        </p:nvSpPr>
        <p:spPr>
          <a:xfrm>
            <a:off x="1051559" y="27767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23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Comparação e Comportamento</a:t>
            </a:r>
            <a:endParaRPr lang="en-US" sz="1235" dirty="0"/>
          </a:p>
        </p:txBody>
      </p:sp>
      <p:sp>
        <p:nvSpPr>
          <p:cNvPr id="34" name="Shape 32"/>
          <p:cNvSpPr/>
          <p:nvPr/>
        </p:nvSpPr>
        <p:spPr>
          <a:xfrm>
            <a:off x="1051559" y="3005328"/>
            <a:ext cx="7589520" cy="201168"/>
          </a:xfrm>
          <a:prstGeom prst="rect">
            <a:avLst/>
          </a:prstGeom>
          <a:noFill/>
          <a:ln/>
        </p:spPr>
      </p:sp>
      <p:sp>
        <p:nvSpPr>
          <p:cNvPr id="35" name="Shape 33"/>
          <p:cNvSpPr/>
          <p:nvPr/>
        </p:nvSpPr>
        <p:spPr>
          <a:xfrm>
            <a:off x="1051559" y="3005328"/>
            <a:ext cx="7589520" cy="201168"/>
          </a:xfrm>
          <a:prstGeom prst="rect">
            <a:avLst/>
          </a:prstGeom>
          <a:noFill/>
          <a:ln/>
        </p:spPr>
      </p:sp>
      <p:sp>
        <p:nvSpPr>
          <p:cNvPr id="36" name="Text 34"/>
          <p:cNvSpPr/>
          <p:nvPr/>
        </p:nvSpPr>
        <p:spPr>
          <a:xfrm>
            <a:off x="1051559" y="300532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8B949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Feito com threads vs Feito sem threads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453384"/>
            <a:ext cx="45720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1559" y="3471672"/>
            <a:ext cx="3840480" cy="237744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1051559" y="3471672"/>
            <a:ext cx="3840480" cy="237744"/>
          </a:xfrm>
          <a:prstGeom prst="rect">
            <a:avLst/>
          </a:prstGeom>
          <a:noFill/>
          <a:ln/>
        </p:spPr>
      </p:sp>
      <p:sp>
        <p:nvSpPr>
          <p:cNvPr id="40" name="Text 38"/>
          <p:cNvSpPr/>
          <p:nvPr/>
        </p:nvSpPr>
        <p:spPr>
          <a:xfrm>
            <a:off x="1051559" y="34716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23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Dificuldades</a:t>
            </a:r>
            <a:endParaRPr lang="en-US" sz="1235" dirty="0"/>
          </a:p>
        </p:txBody>
      </p:sp>
      <p:sp>
        <p:nvSpPr>
          <p:cNvPr id="41" name="Shape 39"/>
          <p:cNvSpPr/>
          <p:nvPr/>
        </p:nvSpPr>
        <p:spPr>
          <a:xfrm>
            <a:off x="1051559" y="3700272"/>
            <a:ext cx="7589520" cy="201168"/>
          </a:xfrm>
          <a:prstGeom prst="rect">
            <a:avLst/>
          </a:prstGeom>
          <a:noFill/>
          <a:ln/>
        </p:spPr>
      </p:sp>
      <p:sp>
        <p:nvSpPr>
          <p:cNvPr id="42" name="Shape 40"/>
          <p:cNvSpPr/>
          <p:nvPr/>
        </p:nvSpPr>
        <p:spPr>
          <a:xfrm>
            <a:off x="1051559" y="3700272"/>
            <a:ext cx="7589520" cy="201168"/>
          </a:xfrm>
          <a:prstGeom prst="rect">
            <a:avLst/>
          </a:prstGeom>
          <a:noFill/>
          <a:ln/>
        </p:spPr>
      </p:sp>
      <p:sp>
        <p:nvSpPr>
          <p:cNvPr id="43" name="Text 41"/>
          <p:cNvSpPr/>
          <p:nvPr/>
        </p:nvSpPr>
        <p:spPr>
          <a:xfrm>
            <a:off x="1051559" y="37002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8B949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Desafios encontrados no desenvolvimento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148328"/>
            <a:ext cx="45720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1559" y="4166615"/>
            <a:ext cx="3840480" cy="237744"/>
          </a:xfrm>
          <a:prstGeom prst="rect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1051559" y="4166615"/>
            <a:ext cx="3840480" cy="237744"/>
          </a:xfrm>
          <a:prstGeom prst="rect">
            <a:avLst/>
          </a:prstGeom>
          <a:noFill/>
          <a:ln/>
        </p:spPr>
      </p:sp>
      <p:sp>
        <p:nvSpPr>
          <p:cNvPr id="47" name="Text 45"/>
          <p:cNvSpPr/>
          <p:nvPr/>
        </p:nvSpPr>
        <p:spPr>
          <a:xfrm>
            <a:off x="1051559" y="4166615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23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Observações</a:t>
            </a:r>
            <a:endParaRPr lang="en-US" sz="1235" dirty="0"/>
          </a:p>
        </p:txBody>
      </p:sp>
      <p:sp>
        <p:nvSpPr>
          <p:cNvPr id="48" name="Shape 46"/>
          <p:cNvSpPr/>
          <p:nvPr/>
        </p:nvSpPr>
        <p:spPr>
          <a:xfrm>
            <a:off x="1051559" y="4395215"/>
            <a:ext cx="7589520" cy="201168"/>
          </a:xfrm>
          <a:prstGeom prst="rect">
            <a:avLst/>
          </a:prstGeom>
          <a:noFill/>
          <a:ln/>
        </p:spPr>
      </p:sp>
      <p:sp>
        <p:nvSpPr>
          <p:cNvPr id="49" name="Shape 47"/>
          <p:cNvSpPr/>
          <p:nvPr/>
        </p:nvSpPr>
        <p:spPr>
          <a:xfrm>
            <a:off x="1051559" y="4395215"/>
            <a:ext cx="7589520" cy="201168"/>
          </a:xfrm>
          <a:prstGeom prst="rect">
            <a:avLst/>
          </a:prstGeom>
          <a:noFill/>
          <a:ln/>
        </p:spPr>
      </p:sp>
      <p:sp>
        <p:nvSpPr>
          <p:cNvPr id="50" name="Text 48"/>
          <p:cNvSpPr/>
          <p:nvPr/>
        </p:nvSpPr>
        <p:spPr>
          <a:xfrm>
            <a:off x="1051559" y="4395215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8B949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Conclusões e aprendizados do grupo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3413" y="2900172"/>
            <a:ext cx="114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283" b="1" dirty="0">
                <a:solidFill>
                  <a:srgbClr val="14AE5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83" dirty="0"/>
          </a:p>
        </p:txBody>
      </p:sp>
      <p:sp>
        <p:nvSpPr>
          <p:cNvPr id="52" name="Text 50"/>
          <p:cNvSpPr/>
          <p:nvPr/>
        </p:nvSpPr>
        <p:spPr>
          <a:xfrm>
            <a:off x="633413" y="3585972"/>
            <a:ext cx="1190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283" b="1" dirty="0">
                <a:solidFill>
                  <a:srgbClr val="14AE5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83" dirty="0"/>
          </a:p>
        </p:txBody>
      </p:sp>
      <p:sp>
        <p:nvSpPr>
          <p:cNvPr id="53" name="Text 51"/>
          <p:cNvSpPr/>
          <p:nvPr/>
        </p:nvSpPr>
        <p:spPr>
          <a:xfrm>
            <a:off x="633413" y="4281297"/>
            <a:ext cx="114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283" b="1" dirty="0">
                <a:solidFill>
                  <a:srgbClr val="14AE5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0025"/>
            <a:ext cx="1847850" cy="257175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5775" y="204788"/>
            <a:ext cx="585788" cy="25241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85775" y="204788"/>
            <a:ext cx="1371600" cy="256032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671513" y="209550"/>
            <a:ext cx="14668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LINGUAGEM E AMBIENTE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57200" y="823913"/>
            <a:ext cx="8229600" cy="22860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5775" y="1214438"/>
            <a:ext cx="3840480" cy="530352"/>
          </a:xfrm>
          <a:prstGeom prst="rect">
            <a:avLst/>
          </a:prstGeom>
          <a:solidFill>
            <a:srgbClr val="161B22"/>
          </a:solidFill>
          <a:ln w="4524">
            <a:solidFill>
              <a:srgbClr val="1F6F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2934" y="1251013"/>
            <a:ext cx="1645920" cy="201168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622934" y="1251013"/>
            <a:ext cx="1645920" cy="201168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22934" y="1251013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1F6FEB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Linguagem</a:t>
            </a:r>
            <a:endParaRPr lang="en-US" sz="855" dirty="0"/>
          </a:p>
        </p:txBody>
      </p:sp>
      <p:sp>
        <p:nvSpPr>
          <p:cNvPr id="11" name="Shape 9"/>
          <p:cNvSpPr/>
          <p:nvPr/>
        </p:nvSpPr>
        <p:spPr>
          <a:xfrm>
            <a:off x="622934" y="1452181"/>
            <a:ext cx="3566160" cy="201168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22934" y="1452181"/>
            <a:ext cx="3566160" cy="201168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622934" y="1452181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C++17</a:t>
            </a:r>
            <a:endParaRPr lang="en-US" sz="1045" dirty="0"/>
          </a:p>
        </p:txBody>
      </p:sp>
      <p:sp>
        <p:nvSpPr>
          <p:cNvPr id="14" name="Shape 12"/>
          <p:cNvSpPr/>
          <p:nvPr/>
        </p:nvSpPr>
        <p:spPr>
          <a:xfrm>
            <a:off x="457200" y="2890838"/>
            <a:ext cx="3840480" cy="530352"/>
          </a:xfrm>
          <a:prstGeom prst="rect">
            <a:avLst/>
          </a:prstGeom>
          <a:solidFill>
            <a:srgbClr val="161B22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59" y="2927414"/>
            <a:ext cx="1645920" cy="201168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594359" y="2927414"/>
            <a:ext cx="1645920" cy="201168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594359" y="292741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23863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Sockets</a:t>
            </a:r>
            <a:endParaRPr lang="en-US" sz="855" dirty="0"/>
          </a:p>
        </p:txBody>
      </p:sp>
      <p:sp>
        <p:nvSpPr>
          <p:cNvPr id="18" name="Shape 16"/>
          <p:cNvSpPr/>
          <p:nvPr/>
        </p:nvSpPr>
        <p:spPr>
          <a:xfrm>
            <a:off x="594359" y="3128582"/>
            <a:ext cx="3566160" cy="201168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594359" y="3128582"/>
            <a:ext cx="3566160" cy="201168"/>
          </a:xfrm>
          <a:prstGeom prst="rect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594359" y="312858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POSIX  (sys/socket)</a:t>
            </a:r>
            <a:endParaRPr lang="en-US" sz="1045" dirty="0"/>
          </a:p>
        </p:txBody>
      </p:sp>
      <p:sp>
        <p:nvSpPr>
          <p:cNvPr id="21" name="Shape 19"/>
          <p:cNvSpPr/>
          <p:nvPr/>
        </p:nvSpPr>
        <p:spPr>
          <a:xfrm>
            <a:off x="485775" y="2033588"/>
            <a:ext cx="3840480" cy="530352"/>
          </a:xfrm>
          <a:prstGeom prst="rect">
            <a:avLst/>
          </a:prstGeom>
          <a:solidFill>
            <a:srgbClr val="161B22"/>
          </a:solidFill>
          <a:ln w="4524">
            <a:solidFill>
              <a:srgbClr val="E3B3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2934" y="2070163"/>
            <a:ext cx="1645920" cy="201168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22934" y="2070163"/>
            <a:ext cx="1645920" cy="201168"/>
          </a:xfrm>
          <a:prstGeom prst="rect">
            <a:avLst/>
          </a:prstGeom>
          <a:noFill/>
          <a:ln/>
        </p:spPr>
      </p:sp>
      <p:sp>
        <p:nvSpPr>
          <p:cNvPr id="24" name="Text 22"/>
          <p:cNvSpPr/>
          <p:nvPr/>
        </p:nvSpPr>
        <p:spPr>
          <a:xfrm>
            <a:off x="622934" y="2070163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E3B34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Threads</a:t>
            </a:r>
            <a:endParaRPr lang="en-US" sz="855" dirty="0"/>
          </a:p>
        </p:txBody>
      </p:sp>
      <p:sp>
        <p:nvSpPr>
          <p:cNvPr id="25" name="Shape 23"/>
          <p:cNvSpPr/>
          <p:nvPr/>
        </p:nvSpPr>
        <p:spPr>
          <a:xfrm>
            <a:off x="622934" y="2271331"/>
            <a:ext cx="3566160" cy="201168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22934" y="2271331"/>
            <a:ext cx="3566160" cy="201168"/>
          </a:xfrm>
          <a:prstGeom prst="rect">
            <a:avLst/>
          </a:prstGeom>
          <a:noFill/>
          <a:ln/>
        </p:spPr>
      </p:sp>
      <p:sp>
        <p:nvSpPr>
          <p:cNvPr id="27" name="Text 25"/>
          <p:cNvSpPr/>
          <p:nvPr/>
        </p:nvSpPr>
        <p:spPr>
          <a:xfrm>
            <a:off x="622934" y="2271331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std::thread + pthread</a:t>
            </a:r>
            <a:endParaRPr lang="en-US" sz="1045" dirty="0"/>
          </a:p>
        </p:txBody>
      </p:sp>
      <p:sp>
        <p:nvSpPr>
          <p:cNvPr id="28" name="Shape 26"/>
          <p:cNvSpPr/>
          <p:nvPr/>
        </p:nvSpPr>
        <p:spPr>
          <a:xfrm>
            <a:off x="4848225" y="2033588"/>
            <a:ext cx="3840480" cy="530352"/>
          </a:xfrm>
          <a:prstGeom prst="rect">
            <a:avLst/>
          </a:prstGeom>
          <a:solidFill>
            <a:srgbClr val="161B22"/>
          </a:solidFill>
          <a:ln w="4524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85384" y="2070163"/>
            <a:ext cx="1645920" cy="201168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4985384" y="2070163"/>
            <a:ext cx="1645920" cy="201168"/>
          </a:xfrm>
          <a:prstGeom prst="rect">
            <a:avLst/>
          </a:prstGeom>
          <a:noFill/>
          <a:ln/>
        </p:spPr>
      </p:sp>
      <p:sp>
        <p:nvSpPr>
          <p:cNvPr id="31" name="Text 29"/>
          <p:cNvSpPr/>
          <p:nvPr/>
        </p:nvSpPr>
        <p:spPr>
          <a:xfrm>
            <a:off x="4985384" y="2070163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8B949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</a:t>
            </a:r>
            <a:endParaRPr lang="en-US" sz="855" dirty="0"/>
          </a:p>
        </p:txBody>
      </p:sp>
      <p:sp>
        <p:nvSpPr>
          <p:cNvPr id="32" name="Shape 30"/>
          <p:cNvSpPr/>
          <p:nvPr/>
        </p:nvSpPr>
        <p:spPr>
          <a:xfrm>
            <a:off x="4985384" y="2271331"/>
            <a:ext cx="3566160" cy="201168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4985384" y="2271331"/>
            <a:ext cx="3566160" cy="201168"/>
          </a:xfrm>
          <a:prstGeom prst="rect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4985384" y="2271331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Container · Ubuntu 24.04 | Docker Compose</a:t>
            </a:r>
            <a:endParaRPr lang="en-US" sz="1045" dirty="0"/>
          </a:p>
        </p:txBody>
      </p:sp>
      <p:sp>
        <p:nvSpPr>
          <p:cNvPr id="35" name="Shape 33"/>
          <p:cNvSpPr/>
          <p:nvPr/>
        </p:nvSpPr>
        <p:spPr>
          <a:xfrm>
            <a:off x="4848225" y="1214438"/>
            <a:ext cx="3840480" cy="530352"/>
          </a:xfrm>
          <a:prstGeom prst="rect">
            <a:avLst/>
          </a:prstGeom>
          <a:solidFill>
            <a:srgbClr val="161B22"/>
          </a:solidFill>
          <a:ln w="4524">
            <a:solidFill>
              <a:srgbClr val="F851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85384" y="1270064"/>
            <a:ext cx="1645920" cy="201168"/>
          </a:xfrm>
          <a:prstGeom prst="rect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4985384" y="1270064"/>
            <a:ext cx="1645920" cy="201168"/>
          </a:xfrm>
          <a:prstGeom prst="rect">
            <a:avLst/>
          </a:prstGeom>
          <a:noFill/>
          <a:ln/>
        </p:spPr>
      </p:sp>
      <p:sp>
        <p:nvSpPr>
          <p:cNvPr id="38" name="Text 36"/>
          <p:cNvSpPr/>
          <p:nvPr/>
        </p:nvSpPr>
        <p:spPr>
          <a:xfrm>
            <a:off x="4985384" y="12700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F8514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Compilador</a:t>
            </a:r>
            <a:endParaRPr lang="en-US" sz="855" dirty="0"/>
          </a:p>
        </p:txBody>
      </p:sp>
      <p:sp>
        <p:nvSpPr>
          <p:cNvPr id="39" name="Shape 37"/>
          <p:cNvSpPr/>
          <p:nvPr/>
        </p:nvSpPr>
        <p:spPr>
          <a:xfrm>
            <a:off x="4985384" y="1471232"/>
            <a:ext cx="3566160" cy="201168"/>
          </a:xfrm>
          <a:prstGeom prst="rect">
            <a:avLst/>
          </a:prstGeom>
          <a:noFill/>
          <a:ln/>
        </p:spPr>
      </p:sp>
      <p:sp>
        <p:nvSpPr>
          <p:cNvPr id="40" name="Shape 38"/>
          <p:cNvSpPr/>
          <p:nvPr/>
        </p:nvSpPr>
        <p:spPr>
          <a:xfrm>
            <a:off x="4985384" y="1471232"/>
            <a:ext cx="3566160" cy="201168"/>
          </a:xfrm>
          <a:prstGeom prst="rect">
            <a:avLst/>
          </a:prstGeom>
          <a:noFill/>
          <a:ln/>
        </p:spPr>
      </p:sp>
      <p:sp>
        <p:nvSpPr>
          <p:cNvPr id="41" name="Text 39"/>
          <p:cNvSpPr/>
          <p:nvPr/>
        </p:nvSpPr>
        <p:spPr>
          <a:xfrm>
            <a:off x="4985384" y="14712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g++ -std=c++17 -pthread</a:t>
            </a:r>
            <a:endParaRPr lang="en-US" sz="104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200025"/>
            <a:ext cx="1847850" cy="257175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0550" y="200025"/>
            <a:ext cx="757238" cy="257175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590550" y="200025"/>
            <a:ext cx="1371600" cy="256032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471488" y="200025"/>
            <a:ext cx="15097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BIBLIOTECAS UTILIZADAS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285750" y="728663"/>
            <a:ext cx="8229600" cy="50292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85750" y="728663"/>
            <a:ext cx="8229600" cy="50292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285750" y="72866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89"/>
              </a:lnSpc>
              <a:buNone/>
            </a:pPr>
            <a:r>
              <a:rPr lang="en-US" sz="247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Headers e APIs utilizadas</a:t>
            </a:r>
            <a:endParaRPr lang="en-US" sz="2470" dirty="0"/>
          </a:p>
        </p:txBody>
      </p:sp>
      <p:sp>
        <p:nvSpPr>
          <p:cNvPr id="9" name="Shape 7"/>
          <p:cNvSpPr/>
          <p:nvPr/>
        </p:nvSpPr>
        <p:spPr>
          <a:xfrm>
            <a:off x="285750" y="1259014"/>
            <a:ext cx="8229600" cy="22860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5750" y="1460182"/>
            <a:ext cx="2743200" cy="329184"/>
          </a:xfrm>
          <a:prstGeom prst="rect">
            <a:avLst/>
          </a:prstGeom>
          <a:solidFill>
            <a:srgbClr val="1F6FEB"/>
          </a:solidFill>
          <a:ln w="4524">
            <a:solidFill>
              <a:srgbClr val="1F6F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288" y="1461897"/>
            <a:ext cx="1076325" cy="328613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395288" y="1461897"/>
            <a:ext cx="2743200" cy="329184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395288" y="1461897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&lt;sys/socket.h&gt;</a:t>
            </a:r>
            <a:endParaRPr lang="en-US" sz="1045" dirty="0"/>
          </a:p>
        </p:txBody>
      </p:sp>
      <p:sp>
        <p:nvSpPr>
          <p:cNvPr id="14" name="Shape 12"/>
          <p:cNvSpPr/>
          <p:nvPr/>
        </p:nvSpPr>
        <p:spPr>
          <a:xfrm>
            <a:off x="285750" y="1789366"/>
            <a:ext cx="2743200" cy="2366963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5478" y="1918906"/>
            <a:ext cx="54864" cy="201168"/>
          </a:xfrm>
          <a:prstGeom prst="rect">
            <a:avLst/>
          </a:prstGeom>
          <a:solidFill>
            <a:srgbClr val="1F6FEB"/>
          </a:solidFill>
          <a:ln w="4524">
            <a:solidFill>
              <a:srgbClr val="1F6F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494" y="1880997"/>
            <a:ext cx="1743075" cy="40005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523494" y="1880997"/>
            <a:ext cx="2423160" cy="402336"/>
          </a:xfrm>
          <a:prstGeom prst="rect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561594" y="181908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socket()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cria o socket TCP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5478" y="2374582"/>
            <a:ext cx="54864" cy="201168"/>
          </a:xfrm>
          <a:prstGeom prst="rect">
            <a:avLst/>
          </a:prstGeom>
          <a:solidFill>
            <a:srgbClr val="1F6FEB"/>
          </a:solidFill>
          <a:ln w="4524">
            <a:solidFill>
              <a:srgbClr val="1F6F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119" y="2279332"/>
            <a:ext cx="2423160" cy="402336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571119" y="2279332"/>
            <a:ext cx="2423160" cy="402336"/>
          </a:xfrm>
          <a:prstGeom prst="rect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571119" y="227933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bind()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associa à porta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95478" y="2854071"/>
            <a:ext cx="54864" cy="201168"/>
          </a:xfrm>
          <a:prstGeom prst="rect">
            <a:avLst/>
          </a:prstGeom>
          <a:solidFill>
            <a:srgbClr val="1F6FEB"/>
          </a:solidFill>
          <a:ln w="4524">
            <a:solidFill>
              <a:srgbClr val="1F6F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" y="2773109"/>
            <a:ext cx="2423160" cy="402336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580644" y="2763584"/>
            <a:ext cx="2423160" cy="402336"/>
          </a:xfrm>
          <a:prstGeom prst="rect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580644" y="276358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listen()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modo escuta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5478" y="3362134"/>
            <a:ext cx="54864" cy="201168"/>
          </a:xfrm>
          <a:prstGeom prst="rect">
            <a:avLst/>
          </a:prstGeom>
          <a:solidFill>
            <a:srgbClr val="1F6FEB"/>
          </a:solidFill>
          <a:ln w="4524">
            <a:solidFill>
              <a:srgbClr val="1F6F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" y="3262122"/>
            <a:ext cx="2423160" cy="402336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571500" y="3262122"/>
            <a:ext cx="2423160" cy="402336"/>
          </a:xfrm>
          <a:prstGeom prst="rect">
            <a:avLst/>
          </a:prstGeom>
          <a:noFill/>
          <a:ln/>
        </p:spPr>
      </p:sp>
      <p:sp>
        <p:nvSpPr>
          <p:cNvPr id="30" name="Text 28"/>
          <p:cNvSpPr/>
          <p:nvPr/>
        </p:nvSpPr>
        <p:spPr>
          <a:xfrm>
            <a:off x="571500" y="326212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accept()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aceita conexão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5478" y="3855911"/>
            <a:ext cx="54864" cy="201168"/>
          </a:xfrm>
          <a:prstGeom prst="rect">
            <a:avLst/>
          </a:prstGeom>
          <a:solidFill>
            <a:srgbClr val="1F6FEB"/>
          </a:solidFill>
          <a:ln w="4524">
            <a:solidFill>
              <a:srgbClr val="1F6F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1025" y="3757422"/>
            <a:ext cx="2423160" cy="402336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581025" y="3757422"/>
            <a:ext cx="2423160" cy="402336"/>
          </a:xfrm>
          <a:prstGeom prst="rect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581025" y="375742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send() / recv()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I/O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93540" y="1460182"/>
            <a:ext cx="2743200" cy="329184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4700" y="1461897"/>
            <a:ext cx="942975" cy="328613"/>
          </a:xfrm>
          <a:prstGeom prst="rect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3314700" y="1461897"/>
            <a:ext cx="2743200" cy="329184"/>
          </a:xfrm>
          <a:prstGeom prst="rect">
            <a:avLst/>
          </a:prstGeom>
          <a:noFill/>
          <a:ln/>
        </p:spPr>
      </p:sp>
      <p:sp>
        <p:nvSpPr>
          <p:cNvPr id="38" name="Text 36"/>
          <p:cNvSpPr/>
          <p:nvPr/>
        </p:nvSpPr>
        <p:spPr>
          <a:xfrm>
            <a:off x="3314700" y="1461897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&lt;arpa/inet.h&gt;</a:t>
            </a:r>
            <a:endParaRPr lang="en-US" sz="1045" dirty="0"/>
          </a:p>
        </p:txBody>
      </p:sp>
      <p:sp>
        <p:nvSpPr>
          <p:cNvPr id="39" name="Shape 37"/>
          <p:cNvSpPr/>
          <p:nvPr/>
        </p:nvSpPr>
        <p:spPr>
          <a:xfrm>
            <a:off x="3193545" y="1789366"/>
            <a:ext cx="2743200" cy="1971675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03268" y="1928431"/>
            <a:ext cx="54864" cy="201168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14725" y="1828609"/>
            <a:ext cx="2423160" cy="402336"/>
          </a:xfrm>
          <a:prstGeom prst="rect">
            <a:avLst/>
          </a:prstGeom>
          <a:noFill/>
          <a:ln/>
        </p:spPr>
      </p:sp>
      <p:sp>
        <p:nvSpPr>
          <p:cNvPr id="42" name="Shape 40"/>
          <p:cNvSpPr/>
          <p:nvPr/>
        </p:nvSpPr>
        <p:spPr>
          <a:xfrm>
            <a:off x="3514725" y="1828609"/>
            <a:ext cx="2423160" cy="402336"/>
          </a:xfrm>
          <a:prstGeom prst="rect">
            <a:avLst/>
          </a:prstGeom>
          <a:noFill/>
          <a:ln/>
        </p:spPr>
      </p:sp>
      <p:sp>
        <p:nvSpPr>
          <p:cNvPr id="43" name="Text 41"/>
          <p:cNvSpPr/>
          <p:nvPr/>
        </p:nvSpPr>
        <p:spPr>
          <a:xfrm>
            <a:off x="3514725" y="1828609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sockaddr_in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estrutura de endereço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03268" y="2398395"/>
            <a:ext cx="54864" cy="201168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19488" y="2300097"/>
            <a:ext cx="2423160" cy="402336"/>
          </a:xfrm>
          <a:prstGeom prst="rect">
            <a:avLst/>
          </a:prstGeom>
          <a:noFill/>
          <a:ln/>
        </p:spPr>
      </p:sp>
      <p:sp>
        <p:nvSpPr>
          <p:cNvPr id="46" name="Shape 44"/>
          <p:cNvSpPr/>
          <p:nvPr/>
        </p:nvSpPr>
        <p:spPr>
          <a:xfrm>
            <a:off x="3519488" y="2300097"/>
            <a:ext cx="2423160" cy="402336"/>
          </a:xfrm>
          <a:prstGeom prst="rect">
            <a:avLst/>
          </a:prstGeom>
          <a:noFill/>
          <a:ln/>
        </p:spPr>
      </p:sp>
      <p:sp>
        <p:nvSpPr>
          <p:cNvPr id="47" name="Text 45"/>
          <p:cNvSpPr/>
          <p:nvPr/>
        </p:nvSpPr>
        <p:spPr>
          <a:xfrm>
            <a:off x="3519488" y="2300097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htons()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byte order de porta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303268" y="2868359"/>
            <a:ext cx="54864" cy="201168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19488" y="2762059"/>
            <a:ext cx="2423160" cy="402336"/>
          </a:xfrm>
          <a:prstGeom prst="rect">
            <a:avLst/>
          </a:prstGeom>
          <a:noFill/>
          <a:ln/>
        </p:spPr>
      </p:sp>
      <p:sp>
        <p:nvSpPr>
          <p:cNvPr id="50" name="Shape 48"/>
          <p:cNvSpPr/>
          <p:nvPr/>
        </p:nvSpPr>
        <p:spPr>
          <a:xfrm>
            <a:off x="3519488" y="2762059"/>
            <a:ext cx="2423160" cy="402336"/>
          </a:xfrm>
          <a:prstGeom prst="rect">
            <a:avLst/>
          </a:prstGeom>
          <a:noFill/>
          <a:ln/>
        </p:spPr>
      </p:sp>
      <p:sp>
        <p:nvSpPr>
          <p:cNvPr id="51" name="Text 49"/>
          <p:cNvSpPr/>
          <p:nvPr/>
        </p:nvSpPr>
        <p:spPr>
          <a:xfrm>
            <a:off x="3519488" y="2762059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inet_pton()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IP string → binário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303268" y="3352609"/>
            <a:ext cx="54864" cy="201168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14725" y="3252597"/>
            <a:ext cx="2423160" cy="402336"/>
          </a:xfrm>
          <a:prstGeom prst="rect">
            <a:avLst/>
          </a:prstGeom>
          <a:noFill/>
          <a:ln/>
        </p:spPr>
      </p:sp>
      <p:sp>
        <p:nvSpPr>
          <p:cNvPr id="54" name="Shape 52"/>
          <p:cNvSpPr/>
          <p:nvPr/>
        </p:nvSpPr>
        <p:spPr>
          <a:xfrm>
            <a:off x="3514725" y="3252597"/>
            <a:ext cx="2423160" cy="402336"/>
          </a:xfrm>
          <a:prstGeom prst="rect">
            <a:avLst/>
          </a:prstGeom>
          <a:noFill/>
          <a:ln/>
        </p:spPr>
      </p:sp>
      <p:sp>
        <p:nvSpPr>
          <p:cNvPr id="55" name="Text 53"/>
          <p:cNvSpPr/>
          <p:nvPr/>
        </p:nvSpPr>
        <p:spPr>
          <a:xfrm>
            <a:off x="3514725" y="3252597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inet_ntop() 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binário → string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101335" y="1460182"/>
            <a:ext cx="2743200" cy="329184"/>
          </a:xfrm>
          <a:prstGeom prst="rect">
            <a:avLst/>
          </a:prstGeom>
          <a:solidFill>
            <a:srgbClr val="B28313"/>
          </a:solidFill>
          <a:ln w="4524">
            <a:solidFill>
              <a:srgbClr val="B2831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24588" y="1461897"/>
            <a:ext cx="1419225" cy="328613"/>
          </a:xfrm>
          <a:prstGeom prst="rect">
            <a:avLst/>
          </a:prstGeom>
          <a:noFill/>
          <a:ln/>
        </p:spPr>
      </p:sp>
      <p:sp>
        <p:nvSpPr>
          <p:cNvPr id="58" name="Shape 56"/>
          <p:cNvSpPr/>
          <p:nvPr/>
        </p:nvSpPr>
        <p:spPr>
          <a:xfrm>
            <a:off x="6224588" y="1461897"/>
            <a:ext cx="2743200" cy="329184"/>
          </a:xfrm>
          <a:prstGeom prst="rect">
            <a:avLst/>
          </a:prstGeom>
          <a:noFill/>
          <a:ln/>
        </p:spPr>
      </p:sp>
      <p:sp>
        <p:nvSpPr>
          <p:cNvPr id="59" name="Text 57"/>
          <p:cNvSpPr/>
          <p:nvPr/>
        </p:nvSpPr>
        <p:spPr>
          <a:xfrm>
            <a:off x="6224588" y="1461897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&lt;thread&gt; + &lt;mutex&gt;</a:t>
            </a:r>
            <a:endParaRPr lang="en-US" sz="1045" dirty="0"/>
          </a:p>
        </p:txBody>
      </p:sp>
      <p:sp>
        <p:nvSpPr>
          <p:cNvPr id="60" name="Shape 58"/>
          <p:cNvSpPr/>
          <p:nvPr/>
        </p:nvSpPr>
        <p:spPr>
          <a:xfrm>
            <a:off x="6101335" y="1789366"/>
            <a:ext cx="2743200" cy="1971675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11063" y="1933194"/>
            <a:ext cx="54864" cy="201168"/>
          </a:xfrm>
          <a:prstGeom prst="rect">
            <a:avLst/>
          </a:prstGeom>
          <a:solidFill>
            <a:srgbClr val="B28313"/>
          </a:solidFill>
          <a:ln w="4524">
            <a:solidFill>
              <a:srgbClr val="B2831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19850" y="1833372"/>
            <a:ext cx="2423160" cy="402336"/>
          </a:xfrm>
          <a:prstGeom prst="rect">
            <a:avLst/>
          </a:prstGeom>
          <a:noFill/>
          <a:ln/>
        </p:spPr>
      </p:sp>
      <p:sp>
        <p:nvSpPr>
          <p:cNvPr id="63" name="Shape 61"/>
          <p:cNvSpPr/>
          <p:nvPr/>
        </p:nvSpPr>
        <p:spPr>
          <a:xfrm>
            <a:off x="6419850" y="1833372"/>
            <a:ext cx="2423160" cy="402336"/>
          </a:xfrm>
          <a:prstGeom prst="rect">
            <a:avLst/>
          </a:prstGeom>
          <a:noFill/>
          <a:ln/>
        </p:spPr>
      </p:sp>
      <p:sp>
        <p:nvSpPr>
          <p:cNvPr id="64" name="Text 62"/>
          <p:cNvSpPr/>
          <p:nvPr/>
        </p:nvSpPr>
        <p:spPr>
          <a:xfrm>
            <a:off x="6419850" y="183337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std::thread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thread por cliente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11063" y="2426970"/>
            <a:ext cx="54864" cy="201168"/>
          </a:xfrm>
          <a:prstGeom prst="rect">
            <a:avLst/>
          </a:prstGeom>
          <a:solidFill>
            <a:srgbClr val="B28313"/>
          </a:solidFill>
          <a:ln w="4524">
            <a:solidFill>
              <a:srgbClr val="B2831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29375" y="2328672"/>
            <a:ext cx="2423160" cy="402336"/>
          </a:xfrm>
          <a:prstGeom prst="rect">
            <a:avLst/>
          </a:prstGeom>
          <a:noFill/>
          <a:ln/>
        </p:spPr>
      </p:sp>
      <p:sp>
        <p:nvSpPr>
          <p:cNvPr id="67" name="Shape 65"/>
          <p:cNvSpPr/>
          <p:nvPr/>
        </p:nvSpPr>
        <p:spPr>
          <a:xfrm>
            <a:off x="6429375" y="2328672"/>
            <a:ext cx="2423160" cy="402336"/>
          </a:xfrm>
          <a:prstGeom prst="rect">
            <a:avLst/>
          </a:prstGeom>
          <a:noFill/>
          <a:ln/>
        </p:spPr>
      </p:sp>
      <p:sp>
        <p:nvSpPr>
          <p:cNvPr id="68" name="Text 66"/>
          <p:cNvSpPr/>
          <p:nvPr/>
        </p:nvSpPr>
        <p:spPr>
          <a:xfrm>
            <a:off x="6429375" y="232867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std::mutex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proteção da lista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211063" y="2920746"/>
            <a:ext cx="54864" cy="201168"/>
          </a:xfrm>
          <a:prstGeom prst="rect">
            <a:avLst/>
          </a:prstGeom>
          <a:solidFill>
            <a:srgbClr val="B28313"/>
          </a:solidFill>
          <a:ln w="4524">
            <a:solidFill>
              <a:srgbClr val="B2831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34138" y="2809684"/>
            <a:ext cx="2423160" cy="402336"/>
          </a:xfrm>
          <a:prstGeom prst="rect">
            <a:avLst/>
          </a:prstGeom>
          <a:noFill/>
          <a:ln/>
        </p:spPr>
      </p:sp>
      <p:sp>
        <p:nvSpPr>
          <p:cNvPr id="71" name="Shape 69"/>
          <p:cNvSpPr/>
          <p:nvPr/>
        </p:nvSpPr>
        <p:spPr>
          <a:xfrm>
            <a:off x="6434138" y="2809684"/>
            <a:ext cx="2423160" cy="402336"/>
          </a:xfrm>
          <a:prstGeom prst="rect">
            <a:avLst/>
          </a:prstGeom>
          <a:noFill/>
          <a:ln/>
        </p:spPr>
      </p:sp>
      <p:sp>
        <p:nvSpPr>
          <p:cNvPr id="72" name="Text 70"/>
          <p:cNvSpPr/>
          <p:nvPr/>
        </p:nvSpPr>
        <p:spPr>
          <a:xfrm>
            <a:off x="6434138" y="280968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std::lock_guard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RAII lock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211063" y="3414522"/>
            <a:ext cx="54864" cy="201168"/>
          </a:xfrm>
          <a:prstGeom prst="rect">
            <a:avLst/>
          </a:prstGeom>
          <a:solidFill>
            <a:srgbClr val="B28313"/>
          </a:solidFill>
          <a:ln w="4524">
            <a:solidFill>
              <a:srgbClr val="B2831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429375" y="3314509"/>
            <a:ext cx="2423160" cy="402336"/>
          </a:xfrm>
          <a:prstGeom prst="rect">
            <a:avLst/>
          </a:prstGeom>
          <a:noFill/>
          <a:ln/>
        </p:spPr>
      </p:sp>
      <p:sp>
        <p:nvSpPr>
          <p:cNvPr id="75" name="Shape 73"/>
          <p:cNvSpPr/>
          <p:nvPr/>
        </p:nvSpPr>
        <p:spPr>
          <a:xfrm>
            <a:off x="6429375" y="3314509"/>
            <a:ext cx="2423160" cy="402336"/>
          </a:xfrm>
          <a:prstGeom prst="rect">
            <a:avLst/>
          </a:prstGeom>
          <a:noFill/>
          <a:ln/>
        </p:spPr>
      </p:sp>
      <p:sp>
        <p:nvSpPr>
          <p:cNvPr id="76" name="Text 74"/>
          <p:cNvSpPr/>
          <p:nvPr/>
        </p:nvSpPr>
        <p:spPr>
          <a:xfrm>
            <a:off x="6429375" y="3314509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thread.detach()</a:t>
            </a:r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sem join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0025"/>
            <a:ext cx="2671763" cy="257175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05438" y="328613"/>
            <a:ext cx="895350" cy="257175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5405438" y="328613"/>
            <a:ext cx="1371600" cy="256032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762000" y="200025"/>
            <a:ext cx="20859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COMPARAÇÃO E COMPORTAMENTO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57200" y="823721"/>
            <a:ext cx="8367712" cy="23244"/>
          </a:xfrm>
          <a:prstGeom prst="rect">
            <a:avLst/>
          </a:prstGeom>
          <a:solidFill>
            <a:srgbClr val="238636"/>
          </a:solidFill>
          <a:ln w="4600">
            <a:solidFill>
              <a:srgbClr val="2386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95388"/>
            <a:ext cx="4114800" cy="347472"/>
          </a:xfrm>
          <a:prstGeom prst="rect">
            <a:avLst/>
          </a:prstGeom>
          <a:solidFill>
            <a:srgbClr val="FF4B42"/>
          </a:solidFill>
          <a:ln w="4524">
            <a:solidFill>
              <a:srgbClr val="CF32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06627"/>
            <a:ext cx="4114800" cy="347472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457200" y="1206627"/>
            <a:ext cx="4114800" cy="347472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09600" y="1203579"/>
            <a:ext cx="1252538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23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 Sem Thread</a:t>
            </a:r>
            <a:endParaRPr lang="en-US" sz="1235" dirty="0"/>
          </a:p>
        </p:txBody>
      </p:sp>
      <p:sp>
        <p:nvSpPr>
          <p:cNvPr id="11" name="Shape 9"/>
          <p:cNvSpPr/>
          <p:nvPr/>
        </p:nvSpPr>
        <p:spPr>
          <a:xfrm>
            <a:off x="4709159" y="1195388"/>
            <a:ext cx="4114800" cy="347472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59" y="1195388"/>
            <a:ext cx="4114800" cy="347472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4709159" y="1195388"/>
            <a:ext cx="4114800" cy="347472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457200" y="1680020"/>
            <a:ext cx="411480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59" y="1762315"/>
            <a:ext cx="3840480" cy="310896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594359" y="1762315"/>
            <a:ext cx="3840480" cy="310896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594359" y="1762315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Atende 1 cliente por vez</a:t>
            </a:r>
            <a:endParaRPr lang="en-US" sz="1045" dirty="0"/>
          </a:p>
        </p:txBody>
      </p:sp>
      <p:sp>
        <p:nvSpPr>
          <p:cNvPr id="18" name="Shape 16"/>
          <p:cNvSpPr/>
          <p:nvPr/>
        </p:nvSpPr>
        <p:spPr>
          <a:xfrm>
            <a:off x="4709159" y="1680020"/>
            <a:ext cx="411480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18" y="1762315"/>
            <a:ext cx="3840480" cy="310896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4846318" y="1762315"/>
            <a:ext cx="3840480" cy="310896"/>
          </a:xfrm>
          <a:prstGeom prst="rect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4846318" y="1762315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clientes simultâneos</a:t>
            </a:r>
            <a:endParaRPr lang="en-US" sz="1045" dirty="0"/>
          </a:p>
        </p:txBody>
      </p:sp>
      <p:sp>
        <p:nvSpPr>
          <p:cNvPr id="22" name="Shape 20"/>
          <p:cNvSpPr/>
          <p:nvPr/>
        </p:nvSpPr>
        <p:spPr>
          <a:xfrm>
            <a:off x="457200" y="2274379"/>
            <a:ext cx="411480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59" y="2356675"/>
            <a:ext cx="3840480" cy="310896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594359" y="2356675"/>
            <a:ext cx="3840480" cy="310896"/>
          </a:xfrm>
          <a:prstGeom prst="rect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594359" y="2356675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Segundo cliente fica bloqueado</a:t>
            </a:r>
            <a:endParaRPr lang="en-US" sz="1045" dirty="0"/>
          </a:p>
        </p:txBody>
      </p:sp>
      <p:sp>
        <p:nvSpPr>
          <p:cNvPr id="26" name="Shape 24"/>
          <p:cNvSpPr/>
          <p:nvPr/>
        </p:nvSpPr>
        <p:spPr>
          <a:xfrm>
            <a:off x="4709159" y="2274379"/>
            <a:ext cx="411480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18" y="2356675"/>
            <a:ext cx="3840480" cy="310896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4846318" y="2356675"/>
            <a:ext cx="3840480" cy="310896"/>
          </a:xfrm>
          <a:prstGeom prst="rect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4846318" y="2356675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cliente em thread própria</a:t>
            </a:r>
            <a:endParaRPr lang="en-US" sz="1045" dirty="0"/>
          </a:p>
        </p:txBody>
      </p:sp>
      <p:sp>
        <p:nvSpPr>
          <p:cNvPr id="30" name="Shape 28"/>
          <p:cNvSpPr/>
          <p:nvPr/>
        </p:nvSpPr>
        <p:spPr>
          <a:xfrm>
            <a:off x="457200" y="2868739"/>
            <a:ext cx="411480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59" y="2951036"/>
            <a:ext cx="3840480" cy="310896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594359" y="2951036"/>
            <a:ext cx="3840480" cy="310896"/>
          </a:xfrm>
          <a:prstGeom prst="rect">
            <a:avLst/>
          </a:prstGeom>
          <a:noFill/>
          <a:ln/>
        </p:spPr>
      </p:sp>
      <p:sp>
        <p:nvSpPr>
          <p:cNvPr id="33" name="Text 31"/>
          <p:cNvSpPr/>
          <p:nvPr/>
        </p:nvSpPr>
        <p:spPr>
          <a:xfrm>
            <a:off x="594359" y="29510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Simples — sem race condition</a:t>
            </a:r>
            <a:endParaRPr lang="en-US" sz="1045" dirty="0"/>
          </a:p>
        </p:txBody>
      </p:sp>
      <p:sp>
        <p:nvSpPr>
          <p:cNvPr id="34" name="Shape 32"/>
          <p:cNvSpPr/>
          <p:nvPr/>
        </p:nvSpPr>
        <p:spPr>
          <a:xfrm>
            <a:off x="4709159" y="2868739"/>
            <a:ext cx="411480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18" y="2951036"/>
            <a:ext cx="3840480" cy="310896"/>
          </a:xfrm>
          <a:prstGeom prst="rect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4846318" y="2951036"/>
            <a:ext cx="3840480" cy="310896"/>
          </a:xfrm>
          <a:prstGeom prst="rect">
            <a:avLst/>
          </a:prstGeom>
          <a:noFill/>
          <a:ln/>
        </p:spPr>
      </p:sp>
      <p:sp>
        <p:nvSpPr>
          <p:cNvPr id="37" name="Text 35"/>
          <p:cNvSpPr/>
          <p:nvPr/>
        </p:nvSpPr>
        <p:spPr>
          <a:xfrm>
            <a:off x="4846318" y="29510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Mutex protege lista de clientes</a:t>
            </a:r>
            <a:endParaRPr lang="en-US" sz="1045" dirty="0"/>
          </a:p>
        </p:txBody>
      </p:sp>
      <p:sp>
        <p:nvSpPr>
          <p:cNvPr id="38" name="Shape 36"/>
          <p:cNvSpPr/>
          <p:nvPr/>
        </p:nvSpPr>
        <p:spPr>
          <a:xfrm>
            <a:off x="457200" y="3463099"/>
            <a:ext cx="411480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59" y="3545396"/>
            <a:ext cx="3840480" cy="310896"/>
          </a:xfrm>
          <a:prstGeom prst="rect">
            <a:avLst/>
          </a:prstGeom>
          <a:noFill/>
          <a:ln/>
        </p:spPr>
      </p:sp>
      <p:sp>
        <p:nvSpPr>
          <p:cNvPr id="40" name="Shape 38"/>
          <p:cNvSpPr/>
          <p:nvPr/>
        </p:nvSpPr>
        <p:spPr>
          <a:xfrm>
            <a:off x="594359" y="3545396"/>
            <a:ext cx="3840480" cy="310896"/>
          </a:xfrm>
          <a:prstGeom prst="rect">
            <a:avLst/>
          </a:prstGeom>
          <a:noFill/>
          <a:ln/>
        </p:spPr>
      </p:sp>
      <p:sp>
        <p:nvSpPr>
          <p:cNvPr id="41" name="Text 39"/>
          <p:cNvSpPr/>
          <p:nvPr/>
        </p:nvSpPr>
        <p:spPr>
          <a:xfrm>
            <a:off x="594359" y="35453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concorrência / sem overhead</a:t>
            </a:r>
            <a:endParaRPr lang="en-US" sz="1045" dirty="0"/>
          </a:p>
        </p:txBody>
      </p:sp>
      <p:sp>
        <p:nvSpPr>
          <p:cNvPr id="42" name="Shape 40"/>
          <p:cNvSpPr/>
          <p:nvPr/>
        </p:nvSpPr>
        <p:spPr>
          <a:xfrm>
            <a:off x="4709159" y="3463099"/>
            <a:ext cx="411480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18" y="3545396"/>
            <a:ext cx="3840480" cy="310896"/>
          </a:xfrm>
          <a:prstGeom prst="rect">
            <a:avLst/>
          </a:prstGeom>
          <a:noFill/>
          <a:ln/>
        </p:spPr>
      </p:sp>
      <p:sp>
        <p:nvSpPr>
          <p:cNvPr id="44" name="Shape 42"/>
          <p:cNvSpPr/>
          <p:nvPr/>
        </p:nvSpPr>
        <p:spPr>
          <a:xfrm>
            <a:off x="4846318" y="3545396"/>
            <a:ext cx="3840480" cy="310896"/>
          </a:xfrm>
          <a:prstGeom prst="rect">
            <a:avLst/>
          </a:prstGeom>
          <a:noFill/>
          <a:ln/>
        </p:spPr>
      </p:sp>
      <p:sp>
        <p:nvSpPr>
          <p:cNvPr id="45" name="Text 43"/>
          <p:cNvSpPr/>
          <p:nvPr/>
        </p:nvSpPr>
        <p:spPr>
          <a:xfrm>
            <a:off x="4846318" y="35453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Broadcast para todos os peers</a:t>
            </a:r>
            <a:endParaRPr lang="en-US" sz="1045" dirty="0"/>
          </a:p>
        </p:txBody>
      </p:sp>
      <p:sp>
        <p:nvSpPr>
          <p:cNvPr id="46" name="Shape 44"/>
          <p:cNvSpPr/>
          <p:nvPr/>
        </p:nvSpPr>
        <p:spPr>
          <a:xfrm>
            <a:off x="457200" y="4057459"/>
            <a:ext cx="411480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59" y="4139755"/>
            <a:ext cx="3840480" cy="310896"/>
          </a:xfrm>
          <a:prstGeom prst="rect">
            <a:avLst/>
          </a:prstGeom>
          <a:noFill/>
          <a:ln/>
        </p:spPr>
      </p:sp>
      <p:sp>
        <p:nvSpPr>
          <p:cNvPr id="48" name="Shape 46"/>
          <p:cNvSpPr/>
          <p:nvPr/>
        </p:nvSpPr>
        <p:spPr>
          <a:xfrm>
            <a:off x="594359" y="4139755"/>
            <a:ext cx="3840480" cy="310896"/>
          </a:xfrm>
          <a:prstGeom prst="rect">
            <a:avLst/>
          </a:prstGeom>
          <a:noFill/>
          <a:ln/>
        </p:spPr>
      </p:sp>
      <p:sp>
        <p:nvSpPr>
          <p:cNvPr id="49" name="Text 47"/>
          <p:cNvSpPr/>
          <p:nvPr/>
        </p:nvSpPr>
        <p:spPr>
          <a:xfrm>
            <a:off x="594359" y="4139755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Útil para aprendizado inicial</a:t>
            </a:r>
            <a:endParaRPr lang="en-US" sz="1045" dirty="0"/>
          </a:p>
        </p:txBody>
      </p:sp>
      <p:sp>
        <p:nvSpPr>
          <p:cNvPr id="50" name="Shape 48"/>
          <p:cNvSpPr/>
          <p:nvPr/>
        </p:nvSpPr>
        <p:spPr>
          <a:xfrm>
            <a:off x="4709159" y="4057459"/>
            <a:ext cx="4114800" cy="475488"/>
          </a:xfrm>
          <a:prstGeom prst="rect">
            <a:avLst/>
          </a:prstGeom>
          <a:solidFill>
            <a:srgbClr val="161B22"/>
          </a:solidFill>
          <a:ln w="4524">
            <a:solidFill>
              <a:srgbClr val="161B2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18" y="4139755"/>
            <a:ext cx="3840480" cy="310896"/>
          </a:xfrm>
          <a:prstGeom prst="rect">
            <a:avLst/>
          </a:prstGeom>
          <a:noFill/>
          <a:ln/>
        </p:spPr>
      </p:sp>
      <p:sp>
        <p:nvSpPr>
          <p:cNvPr id="52" name="Shape 50"/>
          <p:cNvSpPr/>
          <p:nvPr/>
        </p:nvSpPr>
        <p:spPr>
          <a:xfrm>
            <a:off x="4846318" y="4139755"/>
            <a:ext cx="3840480" cy="310896"/>
          </a:xfrm>
          <a:prstGeom prst="rect">
            <a:avLst/>
          </a:prstGeom>
          <a:noFill/>
          <a:ln/>
        </p:spPr>
      </p:sp>
      <p:sp>
        <p:nvSpPr>
          <p:cNvPr id="53" name="Text 51"/>
          <p:cNvSpPr/>
          <p:nvPr/>
        </p:nvSpPr>
        <p:spPr>
          <a:xfrm>
            <a:off x="4846318" y="4139755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Necessário para chat real</a:t>
            </a:r>
            <a:endParaRPr lang="en-US" sz="1045" dirty="0"/>
          </a:p>
        </p:txBody>
      </p:sp>
      <p:sp>
        <p:nvSpPr>
          <p:cNvPr id="54" name="Text 52"/>
          <p:cNvSpPr/>
          <p:nvPr/>
        </p:nvSpPr>
        <p:spPr>
          <a:xfrm>
            <a:off x="4857750" y="1201864"/>
            <a:ext cx="1252538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23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Com Thread</a:t>
            </a:r>
            <a:endParaRPr lang="en-US" sz="123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200025"/>
            <a:ext cx="1785938" cy="257175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" y="657225"/>
            <a:ext cx="3681413" cy="504825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04800" y="657225"/>
            <a:ext cx="8229600" cy="50292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04800" y="704850"/>
            <a:ext cx="3552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89"/>
              </a:lnSpc>
              <a:buNone/>
            </a:pPr>
            <a:r>
              <a:rPr lang="en-US" sz="247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Desafios encontrados</a:t>
            </a:r>
            <a:endParaRPr lang="en-US" sz="2470" dirty="0"/>
          </a:p>
        </p:txBody>
      </p:sp>
      <p:sp>
        <p:nvSpPr>
          <p:cNvPr id="6" name="Shape 4"/>
          <p:cNvSpPr/>
          <p:nvPr/>
        </p:nvSpPr>
        <p:spPr>
          <a:xfrm>
            <a:off x="771525" y="209550"/>
            <a:ext cx="838200" cy="257175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771525" y="209550"/>
            <a:ext cx="1371600" cy="256032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771525" y="20955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DIFICULDADES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304800" y="1185863"/>
            <a:ext cx="8529638" cy="23813"/>
          </a:xfrm>
          <a:prstGeom prst="rect">
            <a:avLst/>
          </a:prstGeom>
          <a:solidFill>
            <a:srgbClr val="238636"/>
          </a:solidFill>
          <a:ln w="4606">
            <a:solidFill>
              <a:srgbClr val="2386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4800" y="1390650"/>
            <a:ext cx="4162425" cy="1481138"/>
          </a:xfrm>
          <a:prstGeom prst="rect">
            <a:avLst/>
          </a:prstGeom>
          <a:solidFill>
            <a:srgbClr val="161B22"/>
          </a:solidFill>
          <a:ln w="4524">
            <a:solidFill>
              <a:srgbClr val="F851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388" y="1519238"/>
            <a:ext cx="385763" cy="381000"/>
          </a:xfrm>
          <a:prstGeom prst="rect">
            <a:avLst/>
          </a:prstGeom>
          <a:solidFill>
            <a:srgbClr val="F85149"/>
          </a:solidFill>
          <a:ln w="4524">
            <a:solidFill>
              <a:srgbClr val="F851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0113" y="1528763"/>
            <a:ext cx="3457575" cy="34290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900113" y="1528763"/>
            <a:ext cx="3456432" cy="347472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900113" y="1528763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Configuração do Dev Container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433388" y="1957388"/>
            <a:ext cx="3838575" cy="804863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433388" y="1957388"/>
            <a:ext cx="3840480" cy="804672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433388" y="195738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Makefile não era detectado no Codespaces sem rebuild. Necessário reconstruir o container para aplicar o postCreateCommand.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76775" y="1390650"/>
            <a:ext cx="4157663" cy="1481138"/>
          </a:xfrm>
          <a:prstGeom prst="rect">
            <a:avLst/>
          </a:prstGeom>
          <a:solidFill>
            <a:srgbClr val="161B22"/>
          </a:solidFill>
          <a:ln w="4524">
            <a:solidFill>
              <a:srgbClr val="E3B3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5363" y="1519238"/>
            <a:ext cx="381000" cy="381000"/>
          </a:xfrm>
          <a:prstGeom prst="rect">
            <a:avLst/>
          </a:prstGeom>
          <a:solidFill>
            <a:srgbClr val="E3B341"/>
          </a:solidFill>
          <a:ln w="4524">
            <a:solidFill>
              <a:srgbClr val="E3B3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72088" y="1519238"/>
            <a:ext cx="3452813" cy="3429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5272088" y="1519238"/>
            <a:ext cx="3456432" cy="347472"/>
          </a:xfrm>
          <a:prstGeom prst="rect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5272088" y="151923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Gerência de race conditions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4805363" y="1957388"/>
            <a:ext cx="3838575" cy="804863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4805363" y="1957388"/>
            <a:ext cx="3840480" cy="804672"/>
          </a:xfrm>
          <a:prstGeom prst="rect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4805363" y="195738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concorrente ao vetor de clientes no servidor de chat exigiu uso de std::mutex e lock_guard para evitar corrupção de dados.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4800" y="3052763"/>
            <a:ext cx="4162425" cy="1481138"/>
          </a:xfrm>
          <a:prstGeom prst="rect">
            <a:avLst/>
          </a:prstGeom>
          <a:solidFill>
            <a:srgbClr val="161B22"/>
          </a:solidFill>
          <a:ln w="4524">
            <a:solidFill>
              <a:srgbClr val="1F6F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3388" y="3181350"/>
            <a:ext cx="385763" cy="385763"/>
          </a:xfrm>
          <a:prstGeom prst="rect">
            <a:avLst/>
          </a:prstGeom>
          <a:solidFill>
            <a:srgbClr val="1F6FEB"/>
          </a:solidFill>
          <a:ln w="4524">
            <a:solidFill>
              <a:srgbClr val="1F6F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113" y="3181350"/>
            <a:ext cx="3457575" cy="347663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900113" y="3181350"/>
            <a:ext cx="3456432" cy="347472"/>
          </a:xfrm>
          <a:prstGeom prst="rect">
            <a:avLst/>
          </a:prstGeom>
          <a:noFill/>
          <a:ln/>
        </p:spPr>
      </p:sp>
      <p:sp>
        <p:nvSpPr>
          <p:cNvPr id="30" name="Text 28"/>
          <p:cNvSpPr/>
          <p:nvPr/>
        </p:nvSpPr>
        <p:spPr>
          <a:xfrm>
            <a:off x="900113" y="318135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Byte order e portabilidade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433388" y="3619500"/>
            <a:ext cx="3838575" cy="804863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433388" y="3619500"/>
            <a:ext cx="3840480" cy="804672"/>
          </a:xfrm>
          <a:prstGeom prst="rect">
            <a:avLst/>
          </a:prstGeom>
          <a:noFill/>
          <a:ln/>
        </p:spPr>
      </p:sp>
      <p:sp>
        <p:nvSpPr>
          <p:cNvPr id="33" name="Text 31"/>
          <p:cNvSpPr/>
          <p:nvPr/>
        </p:nvSpPr>
        <p:spPr>
          <a:xfrm>
            <a:off x="433388" y="361950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Conversão entre host byte order e network byte order (htons/ntohs) é obrigatória — erro silencioso difícil de depurar.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76775" y="3052763"/>
            <a:ext cx="4157663" cy="1481138"/>
          </a:xfrm>
          <a:prstGeom prst="rect">
            <a:avLst/>
          </a:prstGeom>
          <a:solidFill>
            <a:srgbClr val="161B22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5363" y="3181350"/>
            <a:ext cx="381000" cy="385763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72088" y="3181350"/>
            <a:ext cx="3452813" cy="347663"/>
          </a:xfrm>
          <a:prstGeom prst="rect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5272088" y="3181350"/>
            <a:ext cx="3456432" cy="347472"/>
          </a:xfrm>
          <a:prstGeom prst="rect">
            <a:avLst/>
          </a:prstGeom>
          <a:noFill/>
          <a:ln/>
        </p:spPr>
      </p:sp>
      <p:sp>
        <p:nvSpPr>
          <p:cNvPr id="38" name="Text 36"/>
          <p:cNvSpPr/>
          <p:nvPr/>
        </p:nvSpPr>
        <p:spPr>
          <a:xfrm>
            <a:off x="5272088" y="318135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concorrente no cliente</a:t>
            </a:r>
            <a:endParaRPr lang="en-US" sz="1140" dirty="0"/>
          </a:p>
        </p:txBody>
      </p:sp>
      <p:sp>
        <p:nvSpPr>
          <p:cNvPr id="39" name="Shape 37"/>
          <p:cNvSpPr/>
          <p:nvPr/>
        </p:nvSpPr>
        <p:spPr>
          <a:xfrm>
            <a:off x="4805363" y="3619500"/>
            <a:ext cx="3838575" cy="804863"/>
          </a:xfrm>
          <a:prstGeom prst="rect">
            <a:avLst/>
          </a:prstGeom>
          <a:noFill/>
          <a:ln/>
        </p:spPr>
      </p:sp>
      <p:sp>
        <p:nvSpPr>
          <p:cNvPr id="40" name="Shape 38"/>
          <p:cNvSpPr/>
          <p:nvPr/>
        </p:nvSpPr>
        <p:spPr>
          <a:xfrm>
            <a:off x="4805363" y="3619500"/>
            <a:ext cx="3840480" cy="804672"/>
          </a:xfrm>
          <a:prstGeom prst="rect">
            <a:avLst/>
          </a:prstGeom>
          <a:noFill/>
          <a:ln/>
        </p:spPr>
      </p:sp>
      <p:sp>
        <p:nvSpPr>
          <p:cNvPr id="41" name="Text 39"/>
          <p:cNvSpPr/>
          <p:nvPr/>
        </p:nvSpPr>
        <p:spPr>
          <a:xfrm>
            <a:off x="4805363" y="361950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cliente de chat, ler stdin e receber mensagens ao mesmo tempo exigiu duas threads separadas e std::atomic&lt;bool&gt; para sinalizar encerramento.</a:t>
            </a:r>
            <a:endParaRPr lang="en-US" sz="950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9587" y="1581150"/>
            <a:ext cx="247650" cy="247650"/>
          </a:xfrm>
          <a:prstGeom prst="rect">
            <a:avLst/>
          </a:prstGeom>
        </p:spPr>
      </p:pic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1012" y="3238500"/>
            <a:ext cx="304800" cy="304800"/>
          </a:xfrm>
          <a:prstGeom prst="rect">
            <a:avLst/>
          </a:prstGeom>
        </p:spPr>
      </p:pic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43463" y="3224213"/>
            <a:ext cx="309563" cy="309563"/>
          </a:xfrm>
          <a:prstGeom prst="rect">
            <a:avLst/>
          </a:prstGeom>
        </p:spPr>
      </p:pic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43463" y="1557338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700088" y="200025"/>
            <a:ext cx="8858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OBSERVAÇÕES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89"/>
              </a:lnSpc>
              <a:buNone/>
            </a:pPr>
            <a:r>
              <a:rPr lang="en-US" sz="2470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</a:t>
            </a:r>
            <a:endParaRPr lang="en-US" sz="247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8229600" cy="22860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38275"/>
            <a:ext cx="73152" cy="658368"/>
          </a:xfrm>
          <a:prstGeom prst="rect">
            <a:avLst/>
          </a:prstGeom>
          <a:solidFill>
            <a:srgbClr val="238636"/>
          </a:solidFill>
          <a:ln w="4524">
            <a:solidFill>
              <a:srgbClr val="2386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" y="1438275"/>
            <a:ext cx="7955280" cy="749808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94944" y="1438275"/>
            <a:ext cx="7955280" cy="749808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694944" y="1438275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API POSIX de sockets em C++ é verbosa, mas mapeada 1:1 com chamadas de sistema reais — o que torna o aprendizado valioso para entender como Python/Java abstraem esse nível.</a:t>
            </a:r>
            <a:endParaRPr lang="en-US" sz="1045" dirty="0"/>
          </a:p>
        </p:txBody>
      </p:sp>
      <p:sp>
        <p:nvSpPr>
          <p:cNvPr id="14" name="Shape 12"/>
          <p:cNvSpPr/>
          <p:nvPr/>
        </p:nvSpPr>
        <p:spPr>
          <a:xfrm>
            <a:off x="457200" y="2316099"/>
            <a:ext cx="73152" cy="658368"/>
          </a:xfrm>
          <a:prstGeom prst="rect">
            <a:avLst/>
          </a:prstGeom>
          <a:solidFill>
            <a:srgbClr val="1F6FEB"/>
          </a:solidFill>
          <a:ln w="4524">
            <a:solidFill>
              <a:srgbClr val="1F6F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2316099"/>
            <a:ext cx="7955280" cy="749808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694944" y="2316099"/>
            <a:ext cx="7955280" cy="749808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694944" y="2301811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std::thread + std::mutex é suficiente para o chat multi-cliente, mas em produção usaríamos epoll (Linux) ou io_uring para escalar sem criar uma thread por conexão.</a:t>
            </a:r>
            <a:endParaRPr lang="en-US" sz="1045" dirty="0"/>
          </a:p>
        </p:txBody>
      </p:sp>
      <p:sp>
        <p:nvSpPr>
          <p:cNvPr id="18" name="Shape 16"/>
          <p:cNvSpPr/>
          <p:nvPr/>
        </p:nvSpPr>
        <p:spPr>
          <a:xfrm>
            <a:off x="457200" y="3193923"/>
            <a:ext cx="73152" cy="658368"/>
          </a:xfrm>
          <a:prstGeom prst="rect">
            <a:avLst/>
          </a:prstGeom>
          <a:solidFill>
            <a:srgbClr val="E3B341"/>
          </a:solidFill>
          <a:ln w="4524">
            <a:solidFill>
              <a:srgbClr val="E3B3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" y="3189160"/>
            <a:ext cx="7955280" cy="749808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94944" y="3189160"/>
            <a:ext cx="7955280" cy="749808"/>
          </a:xfrm>
          <a:prstGeom prst="rect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694944" y="318916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Dev Container garante ambiente reproduzível: qualquer membro do grupo roda exatamente o mesmo g++, bibliotecas e flags, sem surpresas de plataforma.</a:t>
            </a:r>
            <a:endParaRPr lang="en-US" sz="1045" dirty="0"/>
          </a:p>
        </p:txBody>
      </p:sp>
      <p:sp>
        <p:nvSpPr>
          <p:cNvPr id="22" name="Shape 20"/>
          <p:cNvSpPr/>
          <p:nvPr/>
        </p:nvSpPr>
        <p:spPr>
          <a:xfrm>
            <a:off x="457200" y="4071747"/>
            <a:ext cx="73152" cy="658368"/>
          </a:xfrm>
          <a:prstGeom prst="rect">
            <a:avLst/>
          </a:prstGeom>
          <a:solidFill>
            <a:srgbClr val="F85149"/>
          </a:solidFill>
          <a:ln w="4524">
            <a:solidFill>
              <a:srgbClr val="F851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" y="4062222"/>
            <a:ext cx="7955280" cy="749808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94944" y="4062222"/>
            <a:ext cx="7955280" cy="749808"/>
          </a:xfrm>
          <a:prstGeom prst="rect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694944" y="406222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045" b="1" dirty="0">
                <a:solidFill>
                  <a:srgbClr val="C9D1D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flag SO_REUSEADDR é essencial durante desenvolvimento para evitar 'Address already in use' a cada restart do servidor.</a:t>
            </a:r>
            <a:endParaRPr lang="en-US" sz="104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2026-05-25T20:02:23Z</dcterms:created>
  <dcterms:modified xsi:type="dcterms:W3CDTF">2026-05-25T20:02:23Z</dcterms:modified>
</cp:coreProperties>
</file>